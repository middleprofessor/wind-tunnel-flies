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tiff" ContentType="image/tiff"/>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2"/>
  </p:sldIdLst>
  <p:sldSz cx="43891200" cy="32918400"/>
  <p:notesSz cx="6858000" cy="9144000"/>
  <p:embeddedFontLst>
    <p:embeddedFont>
      <p:font typeface="Calibri" pitchFamily="34" charset="0"/>
      <p:regular r:id="rId3"/>
      <p:bold r:id="rId4"/>
      <p:italic r:id="rId5"/>
      <p:boldItalic r:id="rId6"/>
    </p:embeddedFont>
  </p:embeddedFontLst>
  <p:defaultTex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1AD13"/>
    <a:srgbClr val="CCFF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21" d="100"/>
          <a:sy n="21" d="100"/>
        </p:scale>
        <p:origin x="-342" y="-180"/>
      </p:cViewPr>
      <p:guideLst>
        <p:guide orient="horz" pos="10368"/>
        <p:guide pos="13824"/>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font" Target="fonts/font1.fntdata"/><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5" Type="http://schemas.openxmlformats.org/officeDocument/2006/relationships/font" Target="fonts/font3.fntdata"/><Relationship Id="rId10" Type="http://schemas.openxmlformats.org/officeDocument/2006/relationships/tableStyles" Target="tableStyles.xml"/><Relationship Id="rId4" Type="http://schemas.openxmlformats.org/officeDocument/2006/relationships/font" Target="fonts/font2.fntdata"/><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oleObject" Target="file:///C:\Users\kenneth\Desktop\POSTER\Males-vs-Female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sz="3600"/>
            </a:pPr>
            <a:r>
              <a:rPr lang="en-US" sz="3600"/>
              <a:t>Wind</a:t>
            </a:r>
            <a:r>
              <a:rPr lang="en-US" sz="3600" baseline="0"/>
              <a:t> Tunnel Performance of Males and Females</a:t>
            </a:r>
            <a:endParaRPr lang="en-US" sz="3600"/>
          </a:p>
        </c:rich>
      </c:tx>
      <c:layout>
        <c:manualLayout>
          <c:xMode val="edge"/>
          <c:yMode val="edge"/>
          <c:x val="0.22136407805894492"/>
          <c:y val="1.4675075337805025E-3"/>
        </c:manualLayout>
      </c:layout>
    </c:title>
    <c:plotArea>
      <c:layout/>
      <c:barChart>
        <c:barDir val="col"/>
        <c:grouping val="clustered"/>
        <c:ser>
          <c:idx val="0"/>
          <c:order val="0"/>
          <c:tx>
            <c:strRef>
              <c:f>Sheet1!$B$1</c:f>
              <c:strCache>
                <c:ptCount val="1"/>
                <c:pt idx="0">
                  <c:v>Female</c:v>
                </c:pt>
              </c:strCache>
            </c:strRef>
          </c:tx>
          <c:val>
            <c:numRef>
              <c:f>Sheet1!$B$2:$B$41</c:f>
              <c:numCache>
                <c:formatCode>General</c:formatCode>
                <c:ptCount val="40"/>
                <c:pt idx="0">
                  <c:v>0</c:v>
                </c:pt>
                <c:pt idx="1">
                  <c:v>0</c:v>
                </c:pt>
                <c:pt idx="2">
                  <c:v>1</c:v>
                </c:pt>
                <c:pt idx="3">
                  <c:v>0</c:v>
                </c:pt>
                <c:pt idx="4">
                  <c:v>0</c:v>
                </c:pt>
                <c:pt idx="5">
                  <c:v>0</c:v>
                </c:pt>
                <c:pt idx="6">
                  <c:v>1</c:v>
                </c:pt>
                <c:pt idx="7">
                  <c:v>0</c:v>
                </c:pt>
                <c:pt idx="8">
                  <c:v>0</c:v>
                </c:pt>
                <c:pt idx="9">
                  <c:v>1</c:v>
                </c:pt>
                <c:pt idx="10">
                  <c:v>2</c:v>
                </c:pt>
                <c:pt idx="11">
                  <c:v>4</c:v>
                </c:pt>
                <c:pt idx="12">
                  <c:v>4</c:v>
                </c:pt>
                <c:pt idx="13">
                  <c:v>5</c:v>
                </c:pt>
                <c:pt idx="14">
                  <c:v>10</c:v>
                </c:pt>
                <c:pt idx="15">
                  <c:v>8</c:v>
                </c:pt>
                <c:pt idx="16">
                  <c:v>9</c:v>
                </c:pt>
                <c:pt idx="17">
                  <c:v>15</c:v>
                </c:pt>
                <c:pt idx="18">
                  <c:v>20</c:v>
                </c:pt>
                <c:pt idx="19">
                  <c:v>27</c:v>
                </c:pt>
                <c:pt idx="20">
                  <c:v>27</c:v>
                </c:pt>
                <c:pt idx="21">
                  <c:v>47</c:v>
                </c:pt>
                <c:pt idx="22">
                  <c:v>54</c:v>
                </c:pt>
                <c:pt idx="23">
                  <c:v>51</c:v>
                </c:pt>
                <c:pt idx="24">
                  <c:v>70</c:v>
                </c:pt>
                <c:pt idx="25">
                  <c:v>61</c:v>
                </c:pt>
                <c:pt idx="26">
                  <c:v>50</c:v>
                </c:pt>
                <c:pt idx="27">
                  <c:v>27</c:v>
                </c:pt>
                <c:pt idx="28">
                  <c:v>23</c:v>
                </c:pt>
                <c:pt idx="29">
                  <c:v>17</c:v>
                </c:pt>
                <c:pt idx="30">
                  <c:v>7</c:v>
                </c:pt>
                <c:pt idx="31">
                  <c:v>0</c:v>
                </c:pt>
                <c:pt idx="32">
                  <c:v>0</c:v>
                </c:pt>
                <c:pt idx="33">
                  <c:v>0</c:v>
                </c:pt>
                <c:pt idx="34">
                  <c:v>1</c:v>
                </c:pt>
                <c:pt idx="35">
                  <c:v>0</c:v>
                </c:pt>
                <c:pt idx="36">
                  <c:v>0</c:v>
                </c:pt>
                <c:pt idx="37">
                  <c:v>0</c:v>
                </c:pt>
                <c:pt idx="38">
                  <c:v>0</c:v>
                </c:pt>
                <c:pt idx="39">
                  <c:v>0</c:v>
                </c:pt>
              </c:numCache>
            </c:numRef>
          </c:val>
        </c:ser>
        <c:ser>
          <c:idx val="1"/>
          <c:order val="1"/>
          <c:tx>
            <c:strRef>
              <c:f>Sheet1!$C$1</c:f>
              <c:strCache>
                <c:ptCount val="1"/>
                <c:pt idx="0">
                  <c:v>Male</c:v>
                </c:pt>
              </c:strCache>
            </c:strRef>
          </c:tx>
          <c:val>
            <c:numRef>
              <c:f>Sheet1!$C$2:$C$41</c:f>
              <c:numCache>
                <c:formatCode>General</c:formatCode>
                <c:ptCount val="40"/>
                <c:pt idx="0">
                  <c:v>0</c:v>
                </c:pt>
                <c:pt idx="1">
                  <c:v>0</c:v>
                </c:pt>
                <c:pt idx="2">
                  <c:v>1</c:v>
                </c:pt>
                <c:pt idx="3">
                  <c:v>1</c:v>
                </c:pt>
                <c:pt idx="4">
                  <c:v>3</c:v>
                </c:pt>
                <c:pt idx="5">
                  <c:v>0</c:v>
                </c:pt>
                <c:pt idx="6">
                  <c:v>1</c:v>
                </c:pt>
                <c:pt idx="7">
                  <c:v>1</c:v>
                </c:pt>
                <c:pt idx="8">
                  <c:v>0</c:v>
                </c:pt>
                <c:pt idx="9">
                  <c:v>1</c:v>
                </c:pt>
                <c:pt idx="10">
                  <c:v>1</c:v>
                </c:pt>
                <c:pt idx="11">
                  <c:v>1</c:v>
                </c:pt>
                <c:pt idx="12">
                  <c:v>12</c:v>
                </c:pt>
                <c:pt idx="13">
                  <c:v>3</c:v>
                </c:pt>
                <c:pt idx="14">
                  <c:v>19</c:v>
                </c:pt>
                <c:pt idx="15">
                  <c:v>17</c:v>
                </c:pt>
                <c:pt idx="16">
                  <c:v>28</c:v>
                </c:pt>
                <c:pt idx="17">
                  <c:v>26</c:v>
                </c:pt>
                <c:pt idx="18">
                  <c:v>35</c:v>
                </c:pt>
                <c:pt idx="19">
                  <c:v>43</c:v>
                </c:pt>
                <c:pt idx="20">
                  <c:v>49</c:v>
                </c:pt>
                <c:pt idx="21">
                  <c:v>47</c:v>
                </c:pt>
                <c:pt idx="22">
                  <c:v>61</c:v>
                </c:pt>
                <c:pt idx="23">
                  <c:v>59</c:v>
                </c:pt>
                <c:pt idx="24">
                  <c:v>54</c:v>
                </c:pt>
                <c:pt idx="25">
                  <c:v>42</c:v>
                </c:pt>
                <c:pt idx="26">
                  <c:v>32</c:v>
                </c:pt>
                <c:pt idx="27">
                  <c:v>15</c:v>
                </c:pt>
                <c:pt idx="28">
                  <c:v>7</c:v>
                </c:pt>
                <c:pt idx="29">
                  <c:v>5</c:v>
                </c:pt>
                <c:pt idx="30">
                  <c:v>4</c:v>
                </c:pt>
                <c:pt idx="31">
                  <c:v>0</c:v>
                </c:pt>
                <c:pt idx="32">
                  <c:v>0</c:v>
                </c:pt>
                <c:pt idx="33">
                  <c:v>0</c:v>
                </c:pt>
                <c:pt idx="34">
                  <c:v>0</c:v>
                </c:pt>
                <c:pt idx="35">
                  <c:v>0</c:v>
                </c:pt>
                <c:pt idx="36">
                  <c:v>0</c:v>
                </c:pt>
                <c:pt idx="37">
                  <c:v>0</c:v>
                </c:pt>
                <c:pt idx="38">
                  <c:v>0</c:v>
                </c:pt>
                <c:pt idx="39">
                  <c:v>0</c:v>
                </c:pt>
              </c:numCache>
            </c:numRef>
          </c:val>
        </c:ser>
        <c:axId val="65476096"/>
        <c:axId val="65478016"/>
      </c:barChart>
      <c:catAx>
        <c:axId val="65476096"/>
        <c:scaling>
          <c:orientation val="minMax"/>
        </c:scaling>
        <c:axPos val="b"/>
        <c:title>
          <c:tx>
            <c:rich>
              <a:bodyPr/>
              <a:lstStyle/>
              <a:p>
                <a:pPr>
                  <a:defRPr sz="2800"/>
                </a:pPr>
                <a:r>
                  <a:rPr lang="en-US" sz="2800"/>
                  <a:t>Wind Tunnel Compartment Number</a:t>
                </a:r>
              </a:p>
            </c:rich>
          </c:tx>
          <c:layout/>
        </c:title>
        <c:tickLblPos val="nextTo"/>
        <c:txPr>
          <a:bodyPr/>
          <a:lstStyle/>
          <a:p>
            <a:pPr>
              <a:defRPr sz="1400" b="1" i="0" baseline="0"/>
            </a:pPr>
            <a:endParaRPr lang="en-US"/>
          </a:p>
        </c:txPr>
        <c:crossAx val="65478016"/>
        <c:crosses val="autoZero"/>
        <c:auto val="1"/>
        <c:lblAlgn val="ctr"/>
        <c:lblOffset val="100"/>
      </c:catAx>
      <c:valAx>
        <c:axId val="65478016"/>
        <c:scaling>
          <c:orientation val="minMax"/>
        </c:scaling>
        <c:axPos val="l"/>
        <c:majorGridlines/>
        <c:title>
          <c:tx>
            <c:rich>
              <a:bodyPr rot="-5400000" vert="horz"/>
              <a:lstStyle/>
              <a:p>
                <a:pPr>
                  <a:defRPr sz="2400"/>
                </a:pPr>
                <a:r>
                  <a:rPr lang="en-US" sz="2400"/>
                  <a:t>Number of Flies</a:t>
                </a:r>
              </a:p>
            </c:rich>
          </c:tx>
          <c:layout>
            <c:manualLayout>
              <c:xMode val="edge"/>
              <c:yMode val="edge"/>
              <c:x val="4.6196229288132931E-3"/>
              <c:y val="0.31754718825040501"/>
            </c:manualLayout>
          </c:layout>
        </c:title>
        <c:numFmt formatCode="General" sourceLinked="1"/>
        <c:tickLblPos val="nextTo"/>
        <c:txPr>
          <a:bodyPr/>
          <a:lstStyle/>
          <a:p>
            <a:pPr>
              <a:defRPr sz="1800" b="1" i="0" baseline="0"/>
            </a:pPr>
            <a:endParaRPr lang="en-US"/>
          </a:p>
        </c:txPr>
        <c:crossAx val="65476096"/>
        <c:crosses val="autoZero"/>
        <c:crossBetween val="between"/>
      </c:valAx>
      <c:spPr>
        <a:ln>
          <a:solidFill>
            <a:schemeClr val="tx1"/>
          </a:solidFill>
        </a:ln>
      </c:spPr>
    </c:plotArea>
    <c:legend>
      <c:legendPos val="r"/>
      <c:layout/>
      <c:txPr>
        <a:bodyPr/>
        <a:lstStyle/>
        <a:p>
          <a:pPr>
            <a:defRPr sz="2800"/>
          </a:pPr>
          <a:endParaRPr lang="en-US"/>
        </a:p>
      </c:txPr>
    </c:legend>
    <c:plotVisOnly val="1"/>
  </c:chart>
  <c:externalData r:id="rId1"/>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10226042"/>
            <a:ext cx="37307520" cy="7056120"/>
          </a:xfrm>
        </p:spPr>
        <p:txBody>
          <a:bodyPr/>
          <a:lstStyle/>
          <a:p>
            <a:r>
              <a:rPr lang="en-US" smtClean="0"/>
              <a:t>Click to edit Master title style</a:t>
            </a:r>
            <a:endParaRPr lang="en-US"/>
          </a:p>
        </p:txBody>
      </p:sp>
      <p:sp>
        <p:nvSpPr>
          <p:cNvPr id="3" name="Subtitle 2"/>
          <p:cNvSpPr>
            <a:spLocks noGrp="1"/>
          </p:cNvSpPr>
          <p:nvPr>
            <p:ph type="subTitle" idx="1"/>
          </p:nvPr>
        </p:nvSpPr>
        <p:spPr>
          <a:xfrm>
            <a:off x="6583680" y="18653760"/>
            <a:ext cx="30723840" cy="8412480"/>
          </a:xfrm>
        </p:spPr>
        <p:txBody>
          <a:bodyPr/>
          <a:lstStyle>
            <a:lvl1pPr marL="0" indent="0" algn="ctr">
              <a:buNone/>
              <a:defRPr>
                <a:solidFill>
                  <a:schemeClr val="tx1">
                    <a:tint val="75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F8506E2-181C-43F9-83B7-D54EC76022F1}" type="datetimeFigureOut">
              <a:rPr lang="en-US" smtClean="0"/>
              <a:pPr/>
              <a:t>6/29/2013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B7AE75-E66C-429F-8F2A-C6EB538ECB1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F8506E2-181C-43F9-83B7-D54EC76022F1}" type="datetimeFigureOut">
              <a:rPr lang="en-US" smtClean="0"/>
              <a:pPr/>
              <a:t>6/29/2013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B7AE75-E66C-429F-8F2A-C6EB538ECB1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2" y="21153122"/>
            <a:ext cx="37307520" cy="6537960"/>
          </a:xfrm>
        </p:spPr>
        <p:txBody>
          <a:bodyPr anchor="t"/>
          <a:lstStyle>
            <a:lvl1pPr algn="l">
              <a:defRPr sz="19200" b="1" cap="all"/>
            </a:lvl1pPr>
          </a:lstStyle>
          <a:p>
            <a:r>
              <a:rPr lang="en-US" smtClean="0"/>
              <a:t>Click to edit Master title style</a:t>
            </a:r>
            <a:endParaRPr lang="en-US"/>
          </a:p>
        </p:txBody>
      </p:sp>
      <p:sp>
        <p:nvSpPr>
          <p:cNvPr id="3" name="Text Placeholder 2"/>
          <p:cNvSpPr>
            <a:spLocks noGrp="1"/>
          </p:cNvSpPr>
          <p:nvPr>
            <p:ph type="body" idx="1"/>
          </p:nvPr>
        </p:nvSpPr>
        <p:spPr>
          <a:xfrm>
            <a:off x="3467102" y="13952225"/>
            <a:ext cx="37307520" cy="7200898"/>
          </a:xfrm>
        </p:spPr>
        <p:txBody>
          <a:bodyPr anchor="b"/>
          <a:lstStyle>
            <a:lvl1pPr marL="0" indent="0">
              <a:buNone/>
              <a:defRPr sz="9600">
                <a:solidFill>
                  <a:schemeClr val="tx1">
                    <a:tint val="75000"/>
                  </a:schemeClr>
                </a:solidFill>
              </a:defRPr>
            </a:lvl1pPr>
            <a:lvl2pPr marL="2194560" indent="0">
              <a:buNone/>
              <a:defRPr sz="8600">
                <a:solidFill>
                  <a:schemeClr val="tx1">
                    <a:tint val="75000"/>
                  </a:schemeClr>
                </a:solidFill>
              </a:defRPr>
            </a:lvl2pPr>
            <a:lvl3pPr marL="4389120" indent="0">
              <a:buNone/>
              <a:defRPr sz="7700">
                <a:solidFill>
                  <a:schemeClr val="tx1">
                    <a:tint val="75000"/>
                  </a:schemeClr>
                </a:solidFill>
              </a:defRPr>
            </a:lvl3pPr>
            <a:lvl4pPr marL="6583680" indent="0">
              <a:buNone/>
              <a:defRPr sz="6700">
                <a:solidFill>
                  <a:schemeClr val="tx1">
                    <a:tint val="75000"/>
                  </a:schemeClr>
                </a:solidFill>
              </a:defRPr>
            </a:lvl4pPr>
            <a:lvl5pPr marL="8778240" indent="0">
              <a:buNone/>
              <a:defRPr sz="6700">
                <a:solidFill>
                  <a:schemeClr val="tx1">
                    <a:tint val="75000"/>
                  </a:schemeClr>
                </a:solidFill>
              </a:defRPr>
            </a:lvl5pPr>
            <a:lvl6pPr marL="10972800" indent="0">
              <a:buNone/>
              <a:defRPr sz="6700">
                <a:solidFill>
                  <a:schemeClr val="tx1">
                    <a:tint val="75000"/>
                  </a:schemeClr>
                </a:solidFill>
              </a:defRPr>
            </a:lvl6pPr>
            <a:lvl7pPr marL="13167360" indent="0">
              <a:buNone/>
              <a:defRPr sz="6700">
                <a:solidFill>
                  <a:schemeClr val="tx1">
                    <a:tint val="75000"/>
                  </a:schemeClr>
                </a:solidFill>
              </a:defRPr>
            </a:lvl7pPr>
            <a:lvl8pPr marL="15361920" indent="0">
              <a:buNone/>
              <a:defRPr sz="6700">
                <a:solidFill>
                  <a:schemeClr val="tx1">
                    <a:tint val="75000"/>
                  </a:schemeClr>
                </a:solidFill>
              </a:defRPr>
            </a:lvl8pPr>
            <a:lvl9pPr marL="17556480" indent="0">
              <a:buNone/>
              <a:defRPr sz="67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F8506E2-181C-43F9-83B7-D54EC76022F1}" type="datetimeFigureOut">
              <a:rPr lang="en-US" smtClean="0"/>
              <a:pPr/>
              <a:t>6/29/2013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B7AE75-E66C-429F-8F2A-C6EB538ECB1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194560" y="7680963"/>
            <a:ext cx="19385280" cy="2172462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22311360" y="7680963"/>
            <a:ext cx="19385280" cy="2172462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F8506E2-181C-43F9-83B7-D54EC76022F1}" type="datetimeFigureOut">
              <a:rPr lang="en-US" smtClean="0"/>
              <a:pPr/>
              <a:t>6/29/2013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B7AE75-E66C-429F-8F2A-C6EB538ECB1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194560" y="7368542"/>
            <a:ext cx="19392902"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smtClean="0"/>
              <a:t>Click to edit Master text styles</a:t>
            </a:r>
          </a:p>
        </p:txBody>
      </p:sp>
      <p:sp>
        <p:nvSpPr>
          <p:cNvPr id="4" name="Content Placeholder 3"/>
          <p:cNvSpPr>
            <a:spLocks noGrp="1"/>
          </p:cNvSpPr>
          <p:nvPr>
            <p:ph sz="half" idx="2"/>
          </p:nvPr>
        </p:nvSpPr>
        <p:spPr>
          <a:xfrm>
            <a:off x="2194560" y="10439400"/>
            <a:ext cx="19392902"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22296122" y="7368542"/>
            <a:ext cx="19400520"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smtClean="0"/>
              <a:t>Click to edit Master text styles</a:t>
            </a:r>
          </a:p>
        </p:txBody>
      </p:sp>
      <p:sp>
        <p:nvSpPr>
          <p:cNvPr id="6" name="Content Placeholder 5"/>
          <p:cNvSpPr>
            <a:spLocks noGrp="1"/>
          </p:cNvSpPr>
          <p:nvPr>
            <p:ph sz="quarter" idx="4"/>
          </p:nvPr>
        </p:nvSpPr>
        <p:spPr>
          <a:xfrm>
            <a:off x="22296122" y="10439400"/>
            <a:ext cx="19400520"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F8506E2-181C-43F9-83B7-D54EC76022F1}" type="datetimeFigureOut">
              <a:rPr lang="en-US" smtClean="0"/>
              <a:pPr/>
              <a:t>6/29/2013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B7AE75-E66C-429F-8F2A-C6EB538ECB1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F8506E2-181C-43F9-83B7-D54EC76022F1}" type="datetimeFigureOut">
              <a:rPr lang="en-US" smtClean="0"/>
              <a:pPr/>
              <a:t>6/29/2013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B7AE75-E66C-429F-8F2A-C6EB538ECB1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8506E2-181C-43F9-83B7-D54EC76022F1}" type="datetimeFigureOut">
              <a:rPr lang="en-US" smtClean="0"/>
              <a:pPr/>
              <a:t>6/29/2013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B7AE75-E66C-429F-8F2A-C6EB538ECB1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3" y="1310640"/>
            <a:ext cx="14439902" cy="5577840"/>
          </a:xfrm>
        </p:spPr>
        <p:txBody>
          <a:bodyPr anchor="b"/>
          <a:lstStyle>
            <a:lvl1pPr algn="l">
              <a:defRPr sz="9600" b="1"/>
            </a:lvl1pPr>
          </a:lstStyle>
          <a:p>
            <a:r>
              <a:rPr lang="en-US" smtClean="0"/>
              <a:t>Click to edit Master title style</a:t>
            </a:r>
            <a:endParaRPr lang="en-US"/>
          </a:p>
        </p:txBody>
      </p:sp>
      <p:sp>
        <p:nvSpPr>
          <p:cNvPr id="3" name="Content Placeholder 2"/>
          <p:cNvSpPr>
            <a:spLocks noGrp="1"/>
          </p:cNvSpPr>
          <p:nvPr>
            <p:ph idx="1"/>
          </p:nvPr>
        </p:nvSpPr>
        <p:spPr>
          <a:xfrm>
            <a:off x="17160240" y="1310643"/>
            <a:ext cx="24536400" cy="28094942"/>
          </a:xfrm>
        </p:spPr>
        <p:txBody>
          <a:bodyPr/>
          <a:lstStyle>
            <a:lvl1pPr>
              <a:defRPr sz="15400"/>
            </a:lvl1pPr>
            <a:lvl2pPr>
              <a:defRPr sz="13400"/>
            </a:lvl2pPr>
            <a:lvl3pPr>
              <a:defRPr sz="11500"/>
            </a:lvl3pPr>
            <a:lvl4pPr>
              <a:defRPr sz="9600"/>
            </a:lvl4pPr>
            <a:lvl5pPr>
              <a:defRPr sz="9600"/>
            </a:lvl5pPr>
            <a:lvl6pPr>
              <a:defRPr sz="9600"/>
            </a:lvl6pPr>
            <a:lvl7pPr>
              <a:defRPr sz="9600"/>
            </a:lvl7pPr>
            <a:lvl8pPr>
              <a:defRPr sz="9600"/>
            </a:lvl8pPr>
            <a:lvl9pPr>
              <a:defRPr sz="9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2194563" y="6888483"/>
            <a:ext cx="14439902" cy="22517102"/>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F8506E2-181C-43F9-83B7-D54EC76022F1}" type="datetimeFigureOut">
              <a:rPr lang="en-US" smtClean="0"/>
              <a:pPr/>
              <a:t>6/29/2013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B7AE75-E66C-429F-8F2A-C6EB538ECB1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2" y="23042880"/>
            <a:ext cx="26334720" cy="2720342"/>
          </a:xfrm>
        </p:spPr>
        <p:txBody>
          <a:bodyPr anchor="b"/>
          <a:lstStyle>
            <a:lvl1pPr algn="l">
              <a:defRPr sz="9600" b="1"/>
            </a:lvl1pPr>
          </a:lstStyle>
          <a:p>
            <a:r>
              <a:rPr lang="en-US" smtClean="0"/>
              <a:t>Click to edit Master title style</a:t>
            </a:r>
            <a:endParaRPr lang="en-US"/>
          </a:p>
        </p:txBody>
      </p:sp>
      <p:sp>
        <p:nvSpPr>
          <p:cNvPr id="3" name="Picture Placeholder 2"/>
          <p:cNvSpPr>
            <a:spLocks noGrp="1"/>
          </p:cNvSpPr>
          <p:nvPr>
            <p:ph type="pic" idx="1"/>
          </p:nvPr>
        </p:nvSpPr>
        <p:spPr>
          <a:xfrm>
            <a:off x="8602982" y="2941320"/>
            <a:ext cx="26334720" cy="19751040"/>
          </a:xfrm>
        </p:spPr>
        <p:txBody>
          <a:bodyPr/>
          <a:lstStyle>
            <a:lvl1pPr marL="0" indent="0">
              <a:buNone/>
              <a:defRPr sz="15400"/>
            </a:lvl1pPr>
            <a:lvl2pPr marL="2194560" indent="0">
              <a:buNone/>
              <a:defRPr sz="13400"/>
            </a:lvl2pPr>
            <a:lvl3pPr marL="4389120" indent="0">
              <a:buNone/>
              <a:defRPr sz="115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endParaRPr lang="en-US"/>
          </a:p>
        </p:txBody>
      </p:sp>
      <p:sp>
        <p:nvSpPr>
          <p:cNvPr id="4" name="Text Placeholder 3"/>
          <p:cNvSpPr>
            <a:spLocks noGrp="1"/>
          </p:cNvSpPr>
          <p:nvPr>
            <p:ph type="body" sz="half" idx="2"/>
          </p:nvPr>
        </p:nvSpPr>
        <p:spPr>
          <a:xfrm>
            <a:off x="8602982" y="25763222"/>
            <a:ext cx="26334720" cy="3863338"/>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F8506E2-181C-43F9-83B7-D54EC76022F1}" type="datetimeFigureOut">
              <a:rPr lang="en-US" smtClean="0"/>
              <a:pPr/>
              <a:t>6/29/2013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B7AE75-E66C-429F-8F2A-C6EB538ECB1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F8506E2-181C-43F9-83B7-D54EC76022F1}" type="datetimeFigureOut">
              <a:rPr lang="en-US" smtClean="0"/>
              <a:pPr/>
              <a:t>6/29/2013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B7AE75-E66C-429F-8F2A-C6EB538ECB1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120" y="1318265"/>
            <a:ext cx="9875520" cy="2808732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194560" y="1318265"/>
            <a:ext cx="28895040" cy="2808732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F8506E2-181C-43F9-83B7-D54EC76022F1}" type="datetimeFigureOut">
              <a:rPr lang="en-US" smtClean="0"/>
              <a:pPr/>
              <a:t>6/29/2013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B7AE75-E66C-429F-8F2A-C6EB538ECB1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0" y="1318262"/>
            <a:ext cx="39502080" cy="5486400"/>
          </a:xfrm>
          <a:prstGeom prst="rect">
            <a:avLst/>
          </a:prstGeom>
        </p:spPr>
        <p:txBody>
          <a:bodyPr vert="horz" lIns="438912" tIns="219456" rIns="438912" bIns="219456"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2194560" y="7680963"/>
            <a:ext cx="39502080" cy="21724622"/>
          </a:xfrm>
          <a:prstGeom prst="rect">
            <a:avLst/>
          </a:prstGeom>
        </p:spPr>
        <p:txBody>
          <a:bodyPr vert="horz" lIns="438912" tIns="219456" rIns="438912" bIns="219456"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2194560" y="30510482"/>
            <a:ext cx="10241280" cy="1752600"/>
          </a:xfrm>
          <a:prstGeom prst="rect">
            <a:avLst/>
          </a:prstGeom>
        </p:spPr>
        <p:txBody>
          <a:bodyPr vert="horz" lIns="438912" tIns="219456" rIns="438912" bIns="219456" rtlCol="0" anchor="ctr"/>
          <a:lstStyle>
            <a:lvl1pPr algn="l">
              <a:defRPr sz="5800">
                <a:solidFill>
                  <a:schemeClr val="tx1">
                    <a:tint val="75000"/>
                  </a:schemeClr>
                </a:solidFill>
              </a:defRPr>
            </a:lvl1pPr>
          </a:lstStyle>
          <a:p>
            <a:fld id="{DF8506E2-181C-43F9-83B7-D54EC76022F1}" type="datetimeFigureOut">
              <a:rPr lang="en-US" smtClean="0"/>
              <a:pPr/>
              <a:t>6/29/2013</a:t>
            </a:fld>
            <a:endParaRPr lang="en-US"/>
          </a:p>
        </p:txBody>
      </p:sp>
      <p:sp>
        <p:nvSpPr>
          <p:cNvPr id="5" name="Footer Placeholder 4"/>
          <p:cNvSpPr>
            <a:spLocks noGrp="1"/>
          </p:cNvSpPr>
          <p:nvPr>
            <p:ph type="ftr" sz="quarter" idx="3"/>
          </p:nvPr>
        </p:nvSpPr>
        <p:spPr>
          <a:xfrm>
            <a:off x="14996160" y="30510482"/>
            <a:ext cx="13898880" cy="1752600"/>
          </a:xfrm>
          <a:prstGeom prst="rect">
            <a:avLst/>
          </a:prstGeom>
        </p:spPr>
        <p:txBody>
          <a:bodyPr vert="horz" lIns="438912" tIns="219456" rIns="438912" bIns="219456" rtlCol="0" anchor="ctr"/>
          <a:lstStyle>
            <a:lvl1pPr algn="ctr">
              <a:defRPr sz="5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1455360" y="30510482"/>
            <a:ext cx="10241280" cy="1752600"/>
          </a:xfrm>
          <a:prstGeom prst="rect">
            <a:avLst/>
          </a:prstGeom>
        </p:spPr>
        <p:txBody>
          <a:bodyPr vert="horz" lIns="438912" tIns="219456" rIns="438912" bIns="219456" rtlCol="0" anchor="ctr"/>
          <a:lstStyle>
            <a:lvl1pPr algn="r">
              <a:defRPr sz="5800">
                <a:solidFill>
                  <a:schemeClr val="tx1">
                    <a:tint val="75000"/>
                  </a:schemeClr>
                </a:solidFill>
              </a:defRPr>
            </a:lvl1pPr>
          </a:lstStyle>
          <a:p>
            <a:fld id="{33B7AE75-E66C-429F-8F2A-C6EB538ECB1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89120" rtl="0" eaLnBrk="1" latinLnBrk="0" hangingPunct="1">
        <a:spcBef>
          <a:spcPct val="0"/>
        </a:spcBef>
        <a:buNone/>
        <a:defRPr sz="21100" kern="1200">
          <a:solidFill>
            <a:schemeClr val="tx1"/>
          </a:solidFill>
          <a:latin typeface="+mj-lt"/>
          <a:ea typeface="+mj-ea"/>
          <a:cs typeface="+mj-cs"/>
        </a:defRPr>
      </a:lvl1pPr>
    </p:titleStyle>
    <p:bodyStyle>
      <a:lvl1pPr marL="1645920" indent="-1645920" algn="l" defTabSz="438912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6160" indent="-1371600" algn="l" defTabSz="4389120"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400" indent="-1097280" algn="l" defTabSz="4389120"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96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52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7008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464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920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376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tiff"/><Relationship Id="rId4" Type="http://schemas.openxmlformats.org/officeDocument/2006/relationships/image" Target="../media/image2.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kenneth\Desktop\KenWeber4\LABNOTES\WIND TUNNEL PIX\WindTunnel.JPG"/>
          <p:cNvPicPr>
            <a:picLocks noChangeAspect="1" noChangeArrowheads="1"/>
          </p:cNvPicPr>
          <p:nvPr/>
        </p:nvPicPr>
        <p:blipFill>
          <a:blip r:embed="rId2" cstate="print">
            <a:lum contrast="10000"/>
          </a:blip>
          <a:srcRect l="2881" t="21489" r="3296" b="15021"/>
          <a:stretch>
            <a:fillRect/>
          </a:stretch>
        </p:blipFill>
        <p:spPr bwMode="auto">
          <a:xfrm flipH="1">
            <a:off x="13792200" y="6257330"/>
            <a:ext cx="17373600" cy="4953000"/>
          </a:xfrm>
          <a:prstGeom prst="rect">
            <a:avLst/>
          </a:prstGeom>
          <a:noFill/>
        </p:spPr>
      </p:pic>
      <p:sp>
        <p:nvSpPr>
          <p:cNvPr id="1028" name="Rectangle 4"/>
          <p:cNvSpPr>
            <a:spLocks noChangeArrowheads="1"/>
          </p:cNvSpPr>
          <p:nvPr/>
        </p:nvSpPr>
        <p:spPr bwMode="auto">
          <a:xfrm>
            <a:off x="4648200" y="255925"/>
            <a:ext cx="34823400" cy="3477875"/>
          </a:xfrm>
          <a:prstGeom prst="rect">
            <a:avLst/>
          </a:prstGeom>
          <a:solidFill>
            <a:srgbClr val="FFFF00"/>
          </a:solidFill>
          <a:ln>
            <a:noFill/>
            <a:headEnd/>
            <a:tailEnd/>
          </a:ln>
          <a:effectLst>
            <a:outerShdw blurRad="107950" dist="12700" dir="5400000" algn="ctr">
              <a:srgbClr val="000000"/>
            </a:outerShdw>
            <a:softEdge rad="127000"/>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lvl="0" algn="ctr" defTabSz="914400" fontAlgn="base">
              <a:spcBef>
                <a:spcPct val="0"/>
              </a:spcBef>
              <a:spcAft>
                <a:spcPct val="0"/>
              </a:spcAft>
            </a:pPr>
            <a:r>
              <a:rPr kumimoji="0" lang="en-US" sz="11000" b="1" i="0" strike="noStrike" cap="none" normalizeH="0" baseline="0" dirty="0" smtClean="0">
                <a:ln>
                  <a:solidFill>
                    <a:srgbClr val="C00000"/>
                  </a:solidFill>
                </a:ln>
                <a:solidFill>
                  <a:schemeClr val="tx1"/>
                </a:solidFill>
                <a:effectLst/>
                <a:latin typeface="Calibri" pitchFamily="34" charset="0"/>
                <a:ea typeface="Calibri" pitchFamily="34" charset="0"/>
                <a:cs typeface="Times New Roman" pitchFamily="18" charset="0"/>
              </a:rPr>
              <a:t>How does flying performance </a:t>
            </a:r>
            <a:r>
              <a:rPr lang="en-US" sz="11000" b="1" dirty="0" smtClean="0">
                <a:ln>
                  <a:solidFill>
                    <a:srgbClr val="C00000"/>
                  </a:solidFill>
                </a:ln>
                <a:latin typeface="Calibri" pitchFamily="34" charset="0"/>
                <a:ea typeface="Calibri" pitchFamily="34" charset="0"/>
                <a:cs typeface="Times New Roman" pitchFamily="18" charset="0"/>
              </a:rPr>
              <a:t>depend on sex and body size, </a:t>
            </a:r>
            <a:r>
              <a:rPr kumimoji="0" lang="en-US" sz="11000" b="1" i="0" strike="noStrike" cap="none" normalizeH="0" baseline="0" dirty="0" smtClean="0">
                <a:ln>
                  <a:solidFill>
                    <a:srgbClr val="C00000"/>
                  </a:solidFill>
                </a:ln>
                <a:solidFill>
                  <a:schemeClr val="tx1"/>
                </a:solidFill>
                <a:effectLst/>
                <a:latin typeface="Calibri" pitchFamily="34" charset="0"/>
                <a:ea typeface="Calibri" pitchFamily="34" charset="0"/>
                <a:cs typeface="Times New Roman" pitchFamily="18" charset="0"/>
              </a:rPr>
              <a:t>in highly selected wind tunnel flies? </a:t>
            </a:r>
            <a:endParaRPr kumimoji="0" lang="en-US" sz="11000" b="0" i="0" strike="noStrike" cap="none" normalizeH="0" baseline="0" dirty="0" smtClean="0">
              <a:ln>
                <a:solidFill>
                  <a:srgbClr val="C00000"/>
                </a:solidFill>
              </a:ln>
              <a:solidFill>
                <a:schemeClr val="tx1"/>
              </a:solidFill>
              <a:effectLst/>
              <a:latin typeface="Arial" pitchFamily="34" charset="0"/>
              <a:cs typeface="Arial" pitchFamily="34" charset="0"/>
            </a:endParaRPr>
          </a:p>
        </p:txBody>
      </p:sp>
      <p:sp>
        <p:nvSpPr>
          <p:cNvPr id="10" name="TextBox 9"/>
          <p:cNvSpPr txBox="1"/>
          <p:nvPr/>
        </p:nvSpPr>
        <p:spPr>
          <a:xfrm>
            <a:off x="17577369" y="5341203"/>
            <a:ext cx="9245031" cy="830997"/>
          </a:xfrm>
          <a:prstGeom prst="rect">
            <a:avLst/>
          </a:prstGeom>
          <a:noFill/>
        </p:spPr>
        <p:txBody>
          <a:bodyPr wrap="none" rtlCol="0">
            <a:spAutoFit/>
          </a:bodyPr>
          <a:lstStyle/>
          <a:p>
            <a:r>
              <a:rPr lang="en-US" sz="4800" b="1" u="sng" dirty="0" smtClean="0">
                <a:latin typeface="Arial" pitchFamily="34" charset="0"/>
                <a:cs typeface="Arial" pitchFamily="34" charset="0"/>
              </a:rPr>
              <a:t>The Wind Tunnel  (150cm long)</a:t>
            </a:r>
            <a:endParaRPr lang="en-US" sz="4800" b="1" u="sng" dirty="0">
              <a:latin typeface="Arial" pitchFamily="34" charset="0"/>
              <a:cs typeface="Arial" pitchFamily="34" charset="0"/>
            </a:endParaRPr>
          </a:p>
        </p:txBody>
      </p:sp>
      <p:sp>
        <p:nvSpPr>
          <p:cNvPr id="11" name="TextBox 10"/>
          <p:cNvSpPr txBox="1"/>
          <p:nvPr/>
        </p:nvSpPr>
        <p:spPr>
          <a:xfrm>
            <a:off x="1066800" y="5056287"/>
            <a:ext cx="11506200" cy="5078313"/>
          </a:xfrm>
          <a:prstGeom prst="rect">
            <a:avLst/>
          </a:prstGeom>
          <a:noFill/>
        </p:spPr>
        <p:txBody>
          <a:bodyPr wrap="square" rtlCol="0">
            <a:spAutoFit/>
          </a:bodyPr>
          <a:lstStyle/>
          <a:p>
            <a:r>
              <a:rPr lang="en-US" sz="3600" b="1" u="sng" dirty="0" smtClean="0"/>
              <a:t>Background:</a:t>
            </a:r>
            <a:r>
              <a:rPr lang="en-US" sz="3600" b="1" dirty="0" smtClean="0"/>
              <a:t>  Flies have been selected for high performance in a wind tunnel—flying toward a light, against the wind—for 510 generations.  The selected lines have evolved strong increases in attraction to light and flying speed.  They score about 100 times as high as the ancestral (control) populations.   We are now assessing the </a:t>
            </a:r>
            <a:r>
              <a:rPr lang="en-US" sz="3600" b="1" dirty="0" smtClean="0"/>
              <a:t>underlying </a:t>
            </a:r>
            <a:r>
              <a:rPr lang="en-US" sz="3600" b="1" dirty="0" smtClean="0"/>
              <a:t>and correlated genetic effects which have been caused by this </a:t>
            </a:r>
            <a:r>
              <a:rPr lang="en-US" sz="3600" b="1" dirty="0" smtClean="0"/>
              <a:t>large response </a:t>
            </a:r>
            <a:r>
              <a:rPr lang="en-US" sz="3600" b="1" dirty="0" smtClean="0"/>
              <a:t>to selection.  </a:t>
            </a:r>
            <a:endParaRPr lang="en-US" sz="3600" b="1" dirty="0"/>
          </a:p>
        </p:txBody>
      </p:sp>
      <p:graphicFrame>
        <p:nvGraphicFramePr>
          <p:cNvPr id="12" name="Chart 11"/>
          <p:cNvGraphicFramePr/>
          <p:nvPr/>
        </p:nvGraphicFramePr>
        <p:xfrm>
          <a:off x="13411200" y="12268200"/>
          <a:ext cx="19126200" cy="716280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p:cNvSpPr txBox="1"/>
          <p:nvPr/>
        </p:nvSpPr>
        <p:spPr>
          <a:xfrm>
            <a:off x="1143000" y="11380887"/>
            <a:ext cx="11277600" cy="5078313"/>
          </a:xfrm>
          <a:prstGeom prst="rect">
            <a:avLst/>
          </a:prstGeom>
          <a:noFill/>
        </p:spPr>
        <p:txBody>
          <a:bodyPr wrap="square" rtlCol="0">
            <a:spAutoFit/>
          </a:bodyPr>
          <a:lstStyle/>
          <a:p>
            <a:r>
              <a:rPr lang="en-US" sz="3600" b="1" u="sng" dirty="0" smtClean="0"/>
              <a:t>The Problem:</a:t>
            </a:r>
            <a:r>
              <a:rPr lang="en-US" sz="3600" b="1" dirty="0" smtClean="0"/>
              <a:t>  The average speed of flies in selected lines is consistently higher for females than for males.  Females are also larger than males on average.  In general, larger flies can fly faster than smaller flies.  Accurate measurements are now required to find out  how performance depends on body size in males and females.  </a:t>
            </a:r>
            <a:r>
              <a:rPr lang="en-US" sz="3600" b="1" i="1" u="sng" dirty="0" smtClean="0"/>
              <a:t>Do females fly faster than males only because they are larger, or is one sex actually faster for its size?  </a:t>
            </a:r>
            <a:endParaRPr lang="en-US" sz="3600" b="1" i="1" u="sng" dirty="0"/>
          </a:p>
        </p:txBody>
      </p:sp>
      <p:sp>
        <p:nvSpPr>
          <p:cNvPr id="14" name="TextBox 13"/>
          <p:cNvSpPr txBox="1"/>
          <p:nvPr/>
        </p:nvSpPr>
        <p:spPr>
          <a:xfrm>
            <a:off x="1219200" y="17221200"/>
            <a:ext cx="11277600" cy="10064294"/>
          </a:xfrm>
          <a:prstGeom prst="rect">
            <a:avLst/>
          </a:prstGeom>
          <a:noFill/>
        </p:spPr>
        <p:txBody>
          <a:bodyPr wrap="square" rtlCol="0">
            <a:spAutoFit/>
          </a:bodyPr>
          <a:lstStyle/>
          <a:p>
            <a:r>
              <a:rPr lang="en-US" sz="3600" b="1" u="sng" dirty="0" smtClean="0"/>
              <a:t>The Experiment: </a:t>
            </a:r>
            <a:r>
              <a:rPr lang="en-US" sz="3600" b="1" dirty="0" smtClean="0"/>
              <a:t> We routinely measure flying speeds every generation on a sample of a few hundred flies.  These are separated into 40 compartments in the wind tunnel according to their performance.  The result is a distribution like the one at right.  For this experiment, we transferred the flies from each numbered compartment into a numbered holding vial.  We then separated the flies from each compartment into males and females under a stereomicroscope, recorded the numbers of males and females for each compartment.  We then took out the fastest and slowest 20 individuals of each sex .  Each group of 20 flies was weighed by placing them in a previously </a:t>
            </a:r>
            <a:r>
              <a:rPr lang="en-US" sz="3600" b="1" dirty="0" err="1" smtClean="0"/>
              <a:t>tared</a:t>
            </a:r>
            <a:r>
              <a:rPr lang="en-US" sz="3600" b="1" dirty="0" smtClean="0"/>
              <a:t> cryogenic vial to prevent moisture loss.  We also separately calculated the mean flying speed for each group of 20 fast or slow males or females. </a:t>
            </a:r>
            <a:endParaRPr lang="en-US" sz="3600" b="1" dirty="0"/>
          </a:p>
        </p:txBody>
      </p:sp>
      <p:sp>
        <p:nvSpPr>
          <p:cNvPr id="15" name="TextBox 14"/>
          <p:cNvSpPr txBox="1"/>
          <p:nvPr/>
        </p:nvSpPr>
        <p:spPr>
          <a:xfrm>
            <a:off x="32842200" y="5105400"/>
            <a:ext cx="10134600" cy="7848302"/>
          </a:xfrm>
          <a:prstGeom prst="rect">
            <a:avLst/>
          </a:prstGeom>
          <a:noFill/>
        </p:spPr>
        <p:txBody>
          <a:bodyPr wrap="square" rtlCol="0">
            <a:spAutoFit/>
          </a:bodyPr>
          <a:lstStyle/>
          <a:p>
            <a:r>
              <a:rPr lang="en-US" sz="3600" b="1" u="sng" dirty="0" smtClean="0"/>
              <a:t>Conclusions:</a:t>
            </a:r>
            <a:r>
              <a:rPr lang="en-US" sz="3600" b="1" dirty="0" smtClean="0"/>
              <a:t>  As expected, bigger flies are faster in both sexes.  But the dependence of speed on size is different in males and females.  Males are much faster flyers than females </a:t>
            </a:r>
            <a:r>
              <a:rPr lang="en-US" sz="3600" b="1" i="1" u="sng" dirty="0" smtClean="0"/>
              <a:t>of the same size.</a:t>
            </a:r>
            <a:r>
              <a:rPr lang="en-US" sz="3600" b="1" i="1" dirty="0" smtClean="0"/>
              <a:t> </a:t>
            </a:r>
            <a:r>
              <a:rPr lang="en-US" sz="3600" b="1" dirty="0" smtClean="0"/>
              <a:t>Females are slower </a:t>
            </a:r>
            <a:r>
              <a:rPr lang="en-US" sz="3600" b="1" i="1" u="sng" dirty="0" smtClean="0"/>
              <a:t>for their size</a:t>
            </a:r>
            <a:r>
              <a:rPr lang="en-US" sz="3600" b="1" dirty="0" smtClean="0"/>
              <a:t>—probably because they carry </a:t>
            </a:r>
            <a:r>
              <a:rPr lang="en-US" sz="3600" b="1" dirty="0" smtClean="0"/>
              <a:t>large ovaries </a:t>
            </a:r>
            <a:r>
              <a:rPr lang="en-US" sz="3600" b="1" dirty="0" smtClean="0"/>
              <a:t>full of </a:t>
            </a:r>
            <a:r>
              <a:rPr lang="en-US" sz="3600" b="1" dirty="0" smtClean="0"/>
              <a:t> developing eggs</a:t>
            </a:r>
            <a:r>
              <a:rPr lang="en-US" sz="3600" b="1" dirty="0" smtClean="0"/>
              <a:t>.  This makes them less efficient  fliers.  </a:t>
            </a:r>
            <a:r>
              <a:rPr lang="en-US" sz="3600" b="1" dirty="0" smtClean="0"/>
              <a:t>Male </a:t>
            </a:r>
            <a:r>
              <a:rPr lang="en-US" sz="3600" b="1" dirty="0" smtClean="0"/>
              <a:t>flies have no such “excess baggage” to slow them </a:t>
            </a:r>
            <a:r>
              <a:rPr lang="en-US" sz="3600" b="1" dirty="0" smtClean="0"/>
              <a:t>down. Yet </a:t>
            </a:r>
            <a:r>
              <a:rPr lang="en-US" sz="3600" b="1" dirty="0" smtClean="0"/>
              <a:t>females are the overall “winners”  in every sample of flies—i.e., they have the fastest average speed and the fastest individuals.  But this is simply because they are so much bigger than males</a:t>
            </a:r>
            <a:r>
              <a:rPr lang="en-US" sz="3600" b="1" dirty="0" smtClean="0"/>
              <a:t>.   </a:t>
            </a:r>
            <a:endParaRPr lang="en-US" sz="3600" b="1" dirty="0"/>
          </a:p>
        </p:txBody>
      </p:sp>
      <p:pic>
        <p:nvPicPr>
          <p:cNvPr id="1029" name="Picture 5" descr="E:\Individual Runs Flat.tif"/>
          <p:cNvPicPr>
            <a:picLocks noChangeAspect="1" noChangeArrowheads="1"/>
          </p:cNvPicPr>
          <p:nvPr/>
        </p:nvPicPr>
        <p:blipFill>
          <a:blip r:embed="rId4" cstate="print">
            <a:lum contrast="10000"/>
          </a:blip>
          <a:srcRect/>
          <a:stretch>
            <a:fillRect/>
          </a:stretch>
        </p:blipFill>
        <p:spPr bwMode="auto">
          <a:xfrm>
            <a:off x="29163768" y="20061220"/>
            <a:ext cx="12746232" cy="12171380"/>
          </a:xfrm>
          <a:prstGeom prst="rect">
            <a:avLst/>
          </a:prstGeom>
          <a:noFill/>
        </p:spPr>
      </p:pic>
      <p:pic>
        <p:nvPicPr>
          <p:cNvPr id="1030" name="Picture 6" descr="E:\Means of Runs flat.tif"/>
          <p:cNvPicPr>
            <a:picLocks noChangeAspect="1" noChangeArrowheads="1"/>
          </p:cNvPicPr>
          <p:nvPr/>
        </p:nvPicPr>
        <p:blipFill>
          <a:blip r:embed="rId5" cstate="print">
            <a:lum contrast="10000"/>
          </a:blip>
          <a:srcRect/>
          <a:stretch>
            <a:fillRect/>
          </a:stretch>
        </p:blipFill>
        <p:spPr bwMode="auto">
          <a:xfrm>
            <a:off x="14249400" y="20299321"/>
            <a:ext cx="12437195" cy="11780879"/>
          </a:xfrm>
          <a:prstGeom prst="rect">
            <a:avLst/>
          </a:prstGeom>
          <a:noFill/>
        </p:spPr>
      </p:pic>
      <p:pic>
        <p:nvPicPr>
          <p:cNvPr id="1031" name="Picture 7"/>
          <p:cNvPicPr>
            <a:picLocks noChangeAspect="1" noChangeArrowheads="1"/>
          </p:cNvPicPr>
          <p:nvPr/>
        </p:nvPicPr>
        <p:blipFill>
          <a:blip r:embed="rId6" cstate="print">
            <a:lum contrast="20000"/>
          </a:blip>
          <a:srcRect/>
          <a:stretch>
            <a:fillRect/>
          </a:stretch>
        </p:blipFill>
        <p:spPr bwMode="auto">
          <a:xfrm>
            <a:off x="33604200" y="13561291"/>
            <a:ext cx="8458200" cy="4955309"/>
          </a:xfrm>
          <a:prstGeom prst="rect">
            <a:avLst/>
          </a:prstGeom>
          <a:noFill/>
          <a:ln w="9525">
            <a:noFill/>
            <a:miter lim="800000"/>
            <a:headEnd/>
            <a:tailEnd/>
          </a:ln>
          <a:effectLst/>
        </p:spPr>
      </p:pic>
      <p:sp>
        <p:nvSpPr>
          <p:cNvPr id="19" name="TextBox 18"/>
          <p:cNvSpPr txBox="1"/>
          <p:nvPr/>
        </p:nvSpPr>
        <p:spPr>
          <a:xfrm>
            <a:off x="35052000" y="18059400"/>
            <a:ext cx="1555234" cy="830997"/>
          </a:xfrm>
          <a:prstGeom prst="rect">
            <a:avLst/>
          </a:prstGeom>
          <a:noFill/>
        </p:spPr>
        <p:txBody>
          <a:bodyPr wrap="none" rtlCol="0">
            <a:spAutoFit/>
          </a:bodyPr>
          <a:lstStyle/>
          <a:p>
            <a:r>
              <a:rPr lang="en-US" sz="4800" b="1" dirty="0" smtClean="0"/>
              <a:t>Male</a:t>
            </a:r>
            <a:endParaRPr lang="en-US" sz="4800" b="1" dirty="0"/>
          </a:p>
        </p:txBody>
      </p:sp>
      <p:sp>
        <p:nvSpPr>
          <p:cNvPr id="20" name="TextBox 19"/>
          <p:cNvSpPr txBox="1"/>
          <p:nvPr/>
        </p:nvSpPr>
        <p:spPr>
          <a:xfrm>
            <a:off x="38785800" y="18371403"/>
            <a:ext cx="2308645" cy="830997"/>
          </a:xfrm>
          <a:prstGeom prst="rect">
            <a:avLst/>
          </a:prstGeom>
          <a:noFill/>
        </p:spPr>
        <p:txBody>
          <a:bodyPr wrap="none" rtlCol="0">
            <a:spAutoFit/>
          </a:bodyPr>
          <a:lstStyle/>
          <a:p>
            <a:r>
              <a:rPr lang="en-US" sz="4800" b="1" dirty="0" smtClean="0"/>
              <a:t>Female</a:t>
            </a:r>
            <a:endParaRPr lang="en-US" sz="4800" b="1" dirty="0"/>
          </a:p>
        </p:txBody>
      </p:sp>
      <p:sp>
        <p:nvSpPr>
          <p:cNvPr id="16" name="Rectangle 15"/>
          <p:cNvSpPr/>
          <p:nvPr/>
        </p:nvSpPr>
        <p:spPr>
          <a:xfrm>
            <a:off x="18288000" y="27508200"/>
            <a:ext cx="685800" cy="533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8059400" y="26289000"/>
            <a:ext cx="685800" cy="533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19735800" y="27203400"/>
            <a:ext cx="685800" cy="533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19583400" y="26060400"/>
            <a:ext cx="685800" cy="533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1295400" y="27889200"/>
            <a:ext cx="10896600" cy="5078313"/>
          </a:xfrm>
          <a:prstGeom prst="rect">
            <a:avLst/>
          </a:prstGeom>
          <a:noFill/>
        </p:spPr>
        <p:txBody>
          <a:bodyPr wrap="square" rtlCol="0">
            <a:spAutoFit/>
          </a:bodyPr>
          <a:lstStyle/>
          <a:p>
            <a:r>
              <a:rPr lang="en-US" sz="3600" b="1" dirty="0" smtClean="0"/>
              <a:t>Weber, K.  (2002)   Population size and long-term selection. In </a:t>
            </a:r>
            <a:r>
              <a:rPr lang="en-US" sz="3600" b="1" i="1" dirty="0" smtClean="0"/>
              <a:t>Long-term Selection</a:t>
            </a:r>
            <a:r>
              <a:rPr lang="en-US" sz="3600" b="1" dirty="0" smtClean="0"/>
              <a:t>, Jules </a:t>
            </a:r>
            <a:r>
              <a:rPr lang="en-US" sz="3600" b="1" dirty="0" err="1" smtClean="0"/>
              <a:t>Janick</a:t>
            </a:r>
            <a:r>
              <a:rPr lang="en-US" sz="3600" b="1" dirty="0" smtClean="0"/>
              <a:t>, ed.  </a:t>
            </a:r>
            <a:r>
              <a:rPr lang="en-US" sz="3600" b="1" i="1" dirty="0" smtClean="0"/>
              <a:t>Plant Breeding Reviews</a:t>
            </a:r>
            <a:r>
              <a:rPr lang="en-US" sz="3600" b="1" dirty="0" smtClean="0"/>
              <a:t> 24 (Part 1): 249-268</a:t>
            </a:r>
          </a:p>
          <a:p>
            <a:endParaRPr lang="en-US" sz="3600" b="1" dirty="0" smtClean="0"/>
          </a:p>
          <a:p>
            <a:r>
              <a:rPr lang="en-US" sz="3600" b="1" dirty="0" err="1" smtClean="0"/>
              <a:t>Marden</a:t>
            </a:r>
            <a:r>
              <a:rPr lang="en-US" sz="3600" b="1" dirty="0" smtClean="0"/>
              <a:t>, J. H., Wolf, M. R. and Weber, K. E. (1997) Aerial performance of </a:t>
            </a:r>
            <a:r>
              <a:rPr lang="en-US" sz="3600" b="1" i="1" dirty="0" smtClean="0"/>
              <a:t>Drosophila </a:t>
            </a:r>
            <a:r>
              <a:rPr lang="en-US" sz="3600" b="1" i="1" dirty="0" err="1" smtClean="0"/>
              <a:t>melanogaster</a:t>
            </a:r>
            <a:r>
              <a:rPr lang="en-US" sz="3600" b="1" dirty="0" smtClean="0"/>
              <a:t> from populations selected for upwind flight ability.  </a:t>
            </a:r>
            <a:r>
              <a:rPr lang="en-US" sz="3600" b="1" i="1" dirty="0" smtClean="0"/>
              <a:t>J. Exp. Biol.</a:t>
            </a:r>
            <a:r>
              <a:rPr lang="en-US" sz="3600" b="1" dirty="0" smtClean="0"/>
              <a:t>  200: 2747-2755</a:t>
            </a:r>
          </a:p>
          <a:p>
            <a:endParaRPr lang="en-US" sz="3600" b="1" dirty="0"/>
          </a:p>
        </p:txBody>
      </p:sp>
      <p:pic>
        <p:nvPicPr>
          <p:cNvPr id="4" name="Picture 5"/>
          <p:cNvPicPr>
            <a:picLocks noChangeAspect="1" noChangeArrowheads="1"/>
          </p:cNvPicPr>
          <p:nvPr/>
        </p:nvPicPr>
        <p:blipFill>
          <a:blip r:embed="rId7" cstate="print">
            <a:lum contrast="20000"/>
          </a:blip>
          <a:srcRect/>
          <a:stretch>
            <a:fillRect/>
          </a:stretch>
        </p:blipFill>
        <p:spPr bwMode="auto">
          <a:xfrm>
            <a:off x="39471600" y="457200"/>
            <a:ext cx="4419600" cy="2946400"/>
          </a:xfrm>
          <a:prstGeom prst="rect">
            <a:avLst/>
          </a:prstGeom>
          <a:noFill/>
          <a:ln w="9525">
            <a:noFill/>
            <a:miter lim="800000"/>
            <a:headEnd/>
            <a:tailEnd/>
          </a:ln>
          <a:effectLst/>
        </p:spPr>
      </p:pic>
      <p:pic>
        <p:nvPicPr>
          <p:cNvPr id="5" name="Picture 6"/>
          <p:cNvPicPr>
            <a:picLocks noChangeAspect="1" noChangeArrowheads="1"/>
          </p:cNvPicPr>
          <p:nvPr/>
        </p:nvPicPr>
        <p:blipFill>
          <a:blip r:embed="rId7" cstate="print">
            <a:lum contrast="20000"/>
          </a:blip>
          <a:srcRect/>
          <a:stretch>
            <a:fillRect/>
          </a:stretch>
        </p:blipFill>
        <p:spPr bwMode="auto">
          <a:xfrm flipH="1">
            <a:off x="0" y="457200"/>
            <a:ext cx="4419600" cy="2946400"/>
          </a:xfrm>
          <a:prstGeom prst="rect">
            <a:avLst/>
          </a:prstGeom>
          <a:noFill/>
          <a:ln w="9525">
            <a:noFill/>
            <a:miter lim="800000"/>
            <a:headEnd/>
            <a:tailEnd/>
          </a:ln>
          <a:effectLst/>
        </p:spPr>
      </p:pic>
      <p:sp>
        <p:nvSpPr>
          <p:cNvPr id="22" name="TextBox 21"/>
          <p:cNvSpPr txBox="1"/>
          <p:nvPr/>
        </p:nvSpPr>
        <p:spPr>
          <a:xfrm>
            <a:off x="5289617" y="3886200"/>
            <a:ext cx="33419983" cy="830997"/>
          </a:xfrm>
          <a:prstGeom prst="rect">
            <a:avLst/>
          </a:prstGeom>
          <a:noFill/>
        </p:spPr>
        <p:txBody>
          <a:bodyPr wrap="none" rtlCol="0">
            <a:spAutoFit/>
          </a:bodyPr>
          <a:lstStyle/>
          <a:p>
            <a:r>
              <a:rPr lang="en-US" sz="4800" b="1" dirty="0" smtClean="0"/>
              <a:t>Shelley Collins, Katherine </a:t>
            </a:r>
            <a:r>
              <a:rPr lang="en-US" sz="4800" b="1" dirty="0" err="1" smtClean="0"/>
              <a:t>Villagran</a:t>
            </a:r>
            <a:r>
              <a:rPr lang="en-US" sz="4800" b="1" dirty="0" smtClean="0"/>
              <a:t>, Rosa </a:t>
            </a:r>
            <a:r>
              <a:rPr lang="en-US" sz="4800" b="1" dirty="0" err="1" smtClean="0"/>
              <a:t>Pauwels</a:t>
            </a:r>
            <a:r>
              <a:rPr lang="en-US" sz="4800" b="1" dirty="0" smtClean="0"/>
              <a:t>, Carina Brown, and Ken Weber;  University of Southern Maine</a:t>
            </a:r>
            <a:endParaRPr lang="en-US" sz="48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250</TotalTime>
  <Words>551</Words>
  <Application>Microsoft Office PowerPoint</Application>
  <PresentationFormat>Custom</PresentationFormat>
  <Paragraphs>15</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Times New Roman</vt:lpstr>
      <vt:lpstr>Office Theme</vt:lpstr>
      <vt:lpstr>Slide 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kenneth weber</dc:creator>
  <cp:lastModifiedBy>kenneth weber</cp:lastModifiedBy>
  <cp:revision>25</cp:revision>
  <dcterms:created xsi:type="dcterms:W3CDTF">2009-04-06T14:33:44Z</dcterms:created>
  <dcterms:modified xsi:type="dcterms:W3CDTF">2013-06-29T17:38:04Z</dcterms:modified>
</cp:coreProperties>
</file>
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tiff" ContentType="image/tif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43891200" cy="32918400"/>
  <p:notesSz cx="6858000" cy="9144000"/>
  <p:embeddedFontLst>
    <p:embeddedFont>
      <p:font typeface="Calibri" pitchFamily="34" charset="0"/>
      <p:regular r:id="rId3"/>
      <p:bold r:id="rId4"/>
      <p:italic r:id="rId5"/>
      <p:boldItalic r:id="rId6"/>
    </p:embeddedFont>
  </p:embeddedFontLst>
  <p:defaultTextStyle>
    <a:defPPr>
      <a:defRPr lang="en-US"/>
    </a:defPPr>
    <a:lvl1pPr marL="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6" d="100"/>
          <a:sy n="16" d="100"/>
        </p:scale>
        <p:origin x="-210" y="-126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enneth\Desktop\POSTER\Males-vs-Femal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 sz="3200"/>
            </a:pPr>
            <a:r>
              <a:rPr lang="en-US" sz="3200"/>
              <a:t>Wind</a:t>
            </a:r>
            <a:r>
              <a:rPr lang="en-US" sz="3200" baseline="0"/>
              <a:t> Tunnel Performance of Males and Females</a:t>
            </a:r>
            <a:endParaRPr lang="en-US" sz="3200"/>
          </a:p>
        </c:rich>
      </c:tx>
      <c:layout>
        <c:manualLayout>
          <c:xMode val="edge"/>
          <c:yMode val="edge"/>
          <c:x val="0.22136407805894492"/>
          <c:y val="1.4675075337805008E-3"/>
        </c:manualLayout>
      </c:layout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val>
            <c:numRef>
              <c:f>Sheet1!$B$2:$B$41</c:f>
              <c:numCache>
                <c:formatCode>General</c:formatCode>
                <c:ptCount val="40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2</c:v>
                </c:pt>
                <c:pt idx="11">
                  <c:v>4</c:v>
                </c:pt>
                <c:pt idx="12">
                  <c:v>4</c:v>
                </c:pt>
                <c:pt idx="13">
                  <c:v>5</c:v>
                </c:pt>
                <c:pt idx="14">
                  <c:v>10</c:v>
                </c:pt>
                <c:pt idx="15">
                  <c:v>8</c:v>
                </c:pt>
                <c:pt idx="16">
                  <c:v>9</c:v>
                </c:pt>
                <c:pt idx="17">
                  <c:v>15</c:v>
                </c:pt>
                <c:pt idx="18">
                  <c:v>20</c:v>
                </c:pt>
                <c:pt idx="19">
                  <c:v>27</c:v>
                </c:pt>
                <c:pt idx="20">
                  <c:v>27</c:v>
                </c:pt>
                <c:pt idx="21">
                  <c:v>47</c:v>
                </c:pt>
                <c:pt idx="22">
                  <c:v>54</c:v>
                </c:pt>
                <c:pt idx="23">
                  <c:v>51</c:v>
                </c:pt>
                <c:pt idx="24">
                  <c:v>70</c:v>
                </c:pt>
                <c:pt idx="25">
                  <c:v>61</c:v>
                </c:pt>
                <c:pt idx="26">
                  <c:v>50</c:v>
                </c:pt>
                <c:pt idx="27">
                  <c:v>27</c:v>
                </c:pt>
                <c:pt idx="28">
                  <c:v>23</c:v>
                </c:pt>
                <c:pt idx="29">
                  <c:v>17</c:v>
                </c:pt>
                <c:pt idx="30">
                  <c:v>7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val>
            <c:numRef>
              <c:f>Sheet1!$C$2:$C$41</c:f>
              <c:numCache>
                <c:formatCode>General</c:formatCode>
                <c:ptCount val="40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0</c:v>
                </c:pt>
                <c:pt idx="6">
                  <c:v>1</c:v>
                </c:pt>
                <c:pt idx="7">
                  <c:v>1</c:v>
                </c:pt>
                <c:pt idx="8">
                  <c:v>0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12</c:v>
                </c:pt>
                <c:pt idx="13">
                  <c:v>3</c:v>
                </c:pt>
                <c:pt idx="14">
                  <c:v>19</c:v>
                </c:pt>
                <c:pt idx="15">
                  <c:v>17</c:v>
                </c:pt>
                <c:pt idx="16">
                  <c:v>28</c:v>
                </c:pt>
                <c:pt idx="17">
                  <c:v>26</c:v>
                </c:pt>
                <c:pt idx="18">
                  <c:v>35</c:v>
                </c:pt>
                <c:pt idx="19">
                  <c:v>43</c:v>
                </c:pt>
                <c:pt idx="20">
                  <c:v>49</c:v>
                </c:pt>
                <c:pt idx="21">
                  <c:v>47</c:v>
                </c:pt>
                <c:pt idx="22">
                  <c:v>61</c:v>
                </c:pt>
                <c:pt idx="23">
                  <c:v>59</c:v>
                </c:pt>
                <c:pt idx="24">
                  <c:v>54</c:v>
                </c:pt>
                <c:pt idx="25">
                  <c:v>42</c:v>
                </c:pt>
                <c:pt idx="26">
                  <c:v>32</c:v>
                </c:pt>
                <c:pt idx="27">
                  <c:v>15</c:v>
                </c:pt>
                <c:pt idx="28">
                  <c:v>7</c:v>
                </c:pt>
                <c:pt idx="29">
                  <c:v>5</c:v>
                </c:pt>
                <c:pt idx="30">
                  <c:v>4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</c:numCache>
            </c:numRef>
          </c:val>
        </c:ser>
        <c:axId val="40750080"/>
        <c:axId val="41035648"/>
      </c:barChart>
      <c:catAx>
        <c:axId val="4075008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2800"/>
                </a:pPr>
                <a:r>
                  <a:rPr lang="en-US" sz="2800"/>
                  <a:t>Wind Tunnel Compartment Number</a:t>
                </a:r>
              </a:p>
            </c:rich>
          </c:tx>
          <c:layout/>
        </c:title>
        <c:tickLblPos val="nextTo"/>
        <c:txPr>
          <a:bodyPr/>
          <a:lstStyle/>
          <a:p>
            <a:pPr>
              <a:defRPr sz="1400" b="1" i="0" baseline="0"/>
            </a:pPr>
            <a:endParaRPr lang="en-US"/>
          </a:p>
        </c:txPr>
        <c:crossAx val="41035648"/>
        <c:crosses val="autoZero"/>
        <c:auto val="1"/>
        <c:lblAlgn val="ctr"/>
        <c:lblOffset val="100"/>
      </c:catAx>
      <c:valAx>
        <c:axId val="41035648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2400"/>
                </a:pPr>
                <a:r>
                  <a:rPr lang="en-US" sz="2400"/>
                  <a:t>Number of Flies</a:t>
                </a:r>
              </a:p>
            </c:rich>
          </c:tx>
          <c:layout>
            <c:manualLayout>
              <c:xMode val="edge"/>
              <c:yMode val="edge"/>
              <c:x val="4.6196229288132887E-3"/>
              <c:y val="0.31754718825040484"/>
            </c:manualLayout>
          </c:layout>
        </c:title>
        <c:numFmt formatCode="General" sourceLinked="1"/>
        <c:tickLblPos val="nextTo"/>
        <c:txPr>
          <a:bodyPr/>
          <a:lstStyle/>
          <a:p>
            <a:pPr>
              <a:defRPr sz="1800" b="1" i="0" baseline="0"/>
            </a:pPr>
            <a:endParaRPr lang="en-US"/>
          </a:p>
        </c:txPr>
        <c:crossAx val="40750080"/>
        <c:crosses val="autoZero"/>
        <c:crossBetween val="between"/>
      </c:valAx>
      <c:spPr>
        <a:ln>
          <a:solidFill>
            <a:schemeClr val="tx1"/>
          </a:solidFill>
        </a:ln>
      </c:spPr>
    </c:plotArea>
    <c:legend>
      <c:legendPos val="r"/>
      <c:layout/>
      <c:txPr>
        <a:bodyPr/>
        <a:lstStyle/>
        <a:p>
          <a:pPr>
            <a:defRPr sz="2800"/>
          </a:pPr>
          <a:endParaRPr lang="en-US"/>
        </a:p>
      </c:txPr>
    </c:legend>
    <c:plotVisOnly val="1"/>
  </c:chart>
  <c:externalData r:id="rId1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506E2-181C-43F9-83B7-D54EC76022F1}" type="datetimeFigureOut">
              <a:rPr lang="en-US" smtClean="0"/>
              <a:pPr/>
              <a:t>4/9/2009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AE75-E66C-429F-8F2A-C6EB538ECB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506E2-181C-43F9-83B7-D54EC76022F1}" type="datetimeFigureOut">
              <a:rPr lang="en-US" smtClean="0"/>
              <a:pPr/>
              <a:t>4/9/2009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AE75-E66C-429F-8F2A-C6EB538ECB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225"/>
            <a:ext cx="37307520" cy="7200898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506E2-181C-43F9-83B7-D54EC76022F1}" type="datetimeFigureOut">
              <a:rPr lang="en-US" smtClean="0"/>
              <a:pPr/>
              <a:t>4/9/2009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AE75-E66C-429F-8F2A-C6EB538ECB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0" y="7680963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1360" y="7680963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506E2-181C-43F9-83B7-D54EC76022F1}" type="datetimeFigureOut">
              <a:rPr lang="en-US" smtClean="0"/>
              <a:pPr/>
              <a:t>4/9/2009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AE75-E66C-429F-8F2A-C6EB538ECB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368542"/>
            <a:ext cx="19392902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10439400"/>
            <a:ext cx="19392902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2" y="7368542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2" y="10439400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506E2-181C-43F9-83B7-D54EC76022F1}" type="datetimeFigureOut">
              <a:rPr lang="en-US" smtClean="0"/>
              <a:pPr/>
              <a:t>4/9/2009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AE75-E66C-429F-8F2A-C6EB538ECB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506E2-181C-43F9-83B7-D54EC76022F1}" type="datetimeFigureOut">
              <a:rPr lang="en-US" smtClean="0"/>
              <a:pPr/>
              <a:t>4/9/2009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AE75-E66C-429F-8F2A-C6EB538ECB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506E2-181C-43F9-83B7-D54EC76022F1}" type="datetimeFigureOut">
              <a:rPr lang="en-US" smtClean="0"/>
              <a:pPr/>
              <a:t>4/9/2009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AE75-E66C-429F-8F2A-C6EB538ECB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2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3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3"/>
            <a:ext cx="14439902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506E2-181C-43F9-83B7-D54EC76022F1}" type="datetimeFigureOut">
              <a:rPr lang="en-US" smtClean="0"/>
              <a:pPr/>
              <a:t>4/9/2009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AE75-E66C-429F-8F2A-C6EB538ECB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2" y="23042880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2" y="2941320"/>
            <a:ext cx="2633472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2" y="25763222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506E2-181C-43F9-83B7-D54EC76022F1}" type="datetimeFigureOut">
              <a:rPr lang="en-US" smtClean="0"/>
              <a:pPr/>
              <a:t>4/9/2009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AE75-E66C-429F-8F2A-C6EB538ECB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506E2-181C-43F9-83B7-D54EC76022F1}" type="datetimeFigureOut">
              <a:rPr lang="en-US" smtClean="0"/>
              <a:pPr/>
              <a:t>4/9/2009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AE75-E66C-429F-8F2A-C6EB538ECB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120" y="1318265"/>
            <a:ext cx="9875520" cy="2808732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560" y="1318265"/>
            <a:ext cx="28895040" cy="280873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506E2-181C-43F9-83B7-D54EC76022F1}" type="datetimeFigureOut">
              <a:rPr lang="en-US" smtClean="0"/>
              <a:pPr/>
              <a:t>4/9/2009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7AE75-E66C-429F-8F2A-C6EB538ECB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3"/>
            <a:ext cx="39502080" cy="2172462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506E2-181C-43F9-83B7-D54EC76022F1}" type="datetimeFigureOut">
              <a:rPr lang="en-US" smtClean="0"/>
              <a:pPr/>
              <a:t>4/9/2009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7AE75-E66C-429F-8F2A-C6EB538ECB1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12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4389120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4389120" rtl="0" eaLnBrk="1" latinLnBrk="0" hangingPunct="1">
        <a:spcBef>
          <a:spcPct val="20000"/>
        </a:spcBef>
        <a:buFont typeface="Arial" pitchFamily="34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tiff"/><Relationship Id="rId5" Type="http://schemas.openxmlformats.org/officeDocument/2006/relationships/image" Target="../media/image3.tiff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kenneth\Desktop\KenWeber4\LABNOTES\WIND TUNNEL PIX\WindTunnel.JPG"/>
          <p:cNvPicPr>
            <a:picLocks noChangeAspect="1" noChangeArrowheads="1"/>
          </p:cNvPicPr>
          <p:nvPr/>
        </p:nvPicPr>
        <p:blipFill>
          <a:blip r:embed="rId2">
            <a:lum contrast="10000"/>
          </a:blip>
          <a:srcRect l="2881" t="21489" r="3296" b="15021"/>
          <a:stretch>
            <a:fillRect/>
          </a:stretch>
        </p:blipFill>
        <p:spPr bwMode="auto">
          <a:xfrm flipH="1">
            <a:off x="14706600" y="6248400"/>
            <a:ext cx="17373600" cy="4953000"/>
          </a:xfrm>
          <a:prstGeom prst="rect">
            <a:avLst/>
          </a:prstGeom>
          <a:noFill/>
        </p:spPr>
      </p:pic>
      <p:pic>
        <p:nvPicPr>
          <p:cNvPr id="1027" name="Picture 3" descr="C:\Users\kenneth\Desktop\KenWeber4\LABNOTES\WIND TUNNEL PIX\Wind Tunnel Pictur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061400" y="381000"/>
            <a:ext cx="9188038" cy="7086600"/>
          </a:xfrm>
          <a:prstGeom prst="rect">
            <a:avLst/>
          </a:prstGeom>
          <a:noFill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1295400" y="305812"/>
            <a:ext cx="31699200" cy="3477875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1000" b="1" i="0" u="sng" strike="noStrike" cap="none" normalizeH="0" baseline="0" dirty="0" smtClean="0">
                <a:ln>
                  <a:solidFill>
                    <a:srgbClr val="C00000"/>
                  </a:solidFill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How does flying performance </a:t>
            </a:r>
            <a:r>
              <a:rPr lang="en-US" sz="11000" b="1" u="sng" dirty="0" smtClean="0">
                <a:ln>
                  <a:solidFill>
                    <a:srgbClr val="C00000"/>
                  </a:solidFill>
                </a:ln>
                <a:latin typeface="Calibri" pitchFamily="34" charset="0"/>
                <a:ea typeface="Calibri" pitchFamily="34" charset="0"/>
                <a:cs typeface="Times New Roman" pitchFamily="18" charset="0"/>
              </a:rPr>
              <a:t>depend on </a:t>
            </a:r>
            <a:r>
              <a:rPr lang="en-US" sz="11000" b="1" u="sng" dirty="0" smtClean="0">
                <a:ln>
                  <a:solidFill>
                    <a:srgbClr val="C00000"/>
                  </a:solidFill>
                </a:ln>
                <a:latin typeface="Calibri" pitchFamily="34" charset="0"/>
                <a:ea typeface="Calibri" pitchFamily="34" charset="0"/>
                <a:cs typeface="Times New Roman" pitchFamily="18" charset="0"/>
              </a:rPr>
              <a:t>sex </a:t>
            </a:r>
            <a:r>
              <a:rPr lang="en-US" sz="11000" b="1" u="sng" dirty="0" smtClean="0">
                <a:ln>
                  <a:solidFill>
                    <a:srgbClr val="C00000"/>
                  </a:solidFill>
                </a:ln>
                <a:latin typeface="Calibri" pitchFamily="34" charset="0"/>
                <a:ea typeface="Calibri" pitchFamily="34" charset="0"/>
                <a:cs typeface="Times New Roman" pitchFamily="18" charset="0"/>
              </a:rPr>
              <a:t>and body </a:t>
            </a:r>
            <a:r>
              <a:rPr lang="en-US" sz="11000" b="1" u="sng" dirty="0" smtClean="0">
                <a:ln>
                  <a:solidFill>
                    <a:srgbClr val="C00000"/>
                  </a:solidFill>
                </a:ln>
                <a:latin typeface="Calibri" pitchFamily="34" charset="0"/>
                <a:ea typeface="Calibri" pitchFamily="34" charset="0"/>
                <a:cs typeface="Times New Roman" pitchFamily="18" charset="0"/>
              </a:rPr>
              <a:t>size, </a:t>
            </a:r>
            <a:r>
              <a:rPr kumimoji="0" lang="en-US" sz="11000" b="1" i="0" u="sng" strike="noStrike" cap="none" normalizeH="0" baseline="0" dirty="0" smtClean="0">
                <a:ln>
                  <a:solidFill>
                    <a:srgbClr val="C00000"/>
                  </a:solidFill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in highly selected wind tunnel flies? </a:t>
            </a:r>
            <a:endParaRPr kumimoji="0" lang="en-US" sz="11000" b="0" i="0" u="none" strike="noStrike" cap="none" normalizeH="0" baseline="0" dirty="0" smtClean="0">
              <a:ln>
                <a:solidFill>
                  <a:srgbClr val="C00000"/>
                </a:solidFill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07000" y="4791670"/>
            <a:ext cx="105530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u="sng" dirty="0" smtClean="0">
                <a:latin typeface="Arial" pitchFamily="34" charset="0"/>
                <a:cs typeface="Arial" pitchFamily="34" charset="0"/>
              </a:rPr>
              <a:t>The Wind Tunnel  (150 cm long)</a:t>
            </a:r>
            <a:endParaRPr lang="en-US" sz="5400" b="1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95400" y="5056287"/>
            <a:ext cx="11506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 smtClean="0"/>
              <a:t>Background:</a:t>
            </a:r>
            <a:r>
              <a:rPr lang="en-US" sz="3600" b="1" dirty="0" smtClean="0"/>
              <a:t>  </a:t>
            </a:r>
            <a:r>
              <a:rPr lang="en-US" sz="3600" b="1" dirty="0" smtClean="0"/>
              <a:t>Flies </a:t>
            </a:r>
            <a:r>
              <a:rPr lang="en-US" sz="3600" b="1" dirty="0" smtClean="0"/>
              <a:t>have been selected for high </a:t>
            </a:r>
            <a:r>
              <a:rPr lang="en-US" sz="3600" b="1" dirty="0" smtClean="0"/>
              <a:t>performance in </a:t>
            </a:r>
            <a:r>
              <a:rPr lang="en-US" sz="3600" b="1" dirty="0" smtClean="0"/>
              <a:t>a wind </a:t>
            </a:r>
            <a:r>
              <a:rPr lang="en-US" sz="3600" b="1" dirty="0" smtClean="0"/>
              <a:t>tunnel—flying </a:t>
            </a:r>
            <a:r>
              <a:rPr lang="en-US" sz="3600" b="1" dirty="0" smtClean="0"/>
              <a:t>toward a light, against the </a:t>
            </a:r>
            <a:r>
              <a:rPr lang="en-US" sz="3600" b="1" dirty="0" smtClean="0"/>
              <a:t>wind—for 510 </a:t>
            </a:r>
            <a:r>
              <a:rPr lang="en-US" sz="3600" b="1" dirty="0" smtClean="0"/>
              <a:t>generations.  The selected lines have evolved </a:t>
            </a:r>
            <a:r>
              <a:rPr lang="en-US" sz="3600" b="1" dirty="0" smtClean="0"/>
              <a:t>strong increases </a:t>
            </a:r>
            <a:r>
              <a:rPr lang="en-US" sz="3600" b="1" dirty="0" smtClean="0"/>
              <a:t>in attraction to light and flying speed.  They score about 100 times as high as the ancestral (control) populations. </a:t>
            </a:r>
            <a:r>
              <a:rPr lang="en-US" sz="3600" b="1" dirty="0" smtClean="0"/>
              <a:t>  We are now assessing the many genetic effects which underlie and are correlated with this extreme and rapid response to selection.  </a:t>
            </a:r>
            <a:endParaRPr lang="en-US" sz="3600" b="1" dirty="0"/>
          </a:p>
        </p:txBody>
      </p:sp>
      <p:graphicFrame>
        <p:nvGraphicFramePr>
          <p:cNvPr id="12" name="Chart 11"/>
          <p:cNvGraphicFramePr/>
          <p:nvPr/>
        </p:nvGraphicFramePr>
        <p:xfrm>
          <a:off x="13944600" y="11582400"/>
          <a:ext cx="19964400" cy="716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371600" y="10896600"/>
            <a:ext cx="11277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 smtClean="0"/>
              <a:t>The Problem:</a:t>
            </a:r>
            <a:r>
              <a:rPr lang="en-US" sz="3600" b="1" dirty="0" smtClean="0"/>
              <a:t>  </a:t>
            </a:r>
            <a:r>
              <a:rPr lang="en-US" sz="3600" b="1" dirty="0" smtClean="0"/>
              <a:t>The average speed of flies in selected lines is </a:t>
            </a:r>
            <a:r>
              <a:rPr lang="en-US" sz="3600" b="1" dirty="0" smtClean="0"/>
              <a:t>consistently </a:t>
            </a:r>
            <a:r>
              <a:rPr lang="en-US" sz="3600" b="1" dirty="0" smtClean="0"/>
              <a:t>higher </a:t>
            </a:r>
            <a:r>
              <a:rPr lang="en-US" sz="3600" b="1" dirty="0" smtClean="0"/>
              <a:t>for </a:t>
            </a:r>
            <a:r>
              <a:rPr lang="en-US" sz="3600" b="1" dirty="0" smtClean="0"/>
              <a:t>females than for males.  </a:t>
            </a:r>
            <a:r>
              <a:rPr lang="en-US" sz="3600" b="1" dirty="0" smtClean="0"/>
              <a:t>Females are also larger than males on average.  In general, larger flies can fly </a:t>
            </a:r>
            <a:r>
              <a:rPr lang="en-US" sz="3600" b="1" dirty="0" smtClean="0"/>
              <a:t>faster </a:t>
            </a:r>
            <a:r>
              <a:rPr lang="en-US" sz="3600" b="1" dirty="0" smtClean="0"/>
              <a:t>than smaller flies.  </a:t>
            </a:r>
            <a:r>
              <a:rPr lang="en-US" sz="3600" b="1" dirty="0" smtClean="0"/>
              <a:t>Accurate </a:t>
            </a:r>
            <a:r>
              <a:rPr lang="en-US" sz="3600" b="1" dirty="0" smtClean="0"/>
              <a:t>measurements are now required to </a:t>
            </a:r>
            <a:r>
              <a:rPr lang="en-US" sz="3600" b="1" dirty="0" smtClean="0"/>
              <a:t>find out  how performance depends on body size in males and females.  </a:t>
            </a:r>
            <a:r>
              <a:rPr lang="en-US" sz="3600" b="1" i="1" u="sng" dirty="0" smtClean="0"/>
              <a:t>Do </a:t>
            </a:r>
            <a:r>
              <a:rPr lang="en-US" sz="3600" b="1" i="1" u="sng" dirty="0" smtClean="0"/>
              <a:t>females </a:t>
            </a:r>
            <a:r>
              <a:rPr lang="en-US" sz="3600" b="1" i="1" u="sng" dirty="0" smtClean="0"/>
              <a:t>fly faster than </a:t>
            </a:r>
            <a:r>
              <a:rPr lang="en-US" sz="3600" b="1" i="1" u="sng" dirty="0" smtClean="0"/>
              <a:t>males only because they are larger, or is one sex actually faster for its size?  </a:t>
            </a:r>
            <a:endParaRPr lang="en-US" sz="3600" b="1" i="1" u="sng" dirty="0"/>
          </a:p>
        </p:txBody>
      </p:sp>
      <p:sp>
        <p:nvSpPr>
          <p:cNvPr id="14" name="TextBox 13"/>
          <p:cNvSpPr txBox="1"/>
          <p:nvPr/>
        </p:nvSpPr>
        <p:spPr>
          <a:xfrm>
            <a:off x="1447800" y="17221200"/>
            <a:ext cx="11277600" cy="1006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 smtClean="0"/>
              <a:t>The Experiment: </a:t>
            </a:r>
            <a:r>
              <a:rPr lang="en-US" sz="3600" b="1" dirty="0" smtClean="0"/>
              <a:t> </a:t>
            </a:r>
            <a:r>
              <a:rPr lang="en-US" sz="3600" b="1" dirty="0" smtClean="0"/>
              <a:t>We </a:t>
            </a:r>
            <a:r>
              <a:rPr lang="en-US" sz="3600" b="1" dirty="0" smtClean="0"/>
              <a:t>routinely measure </a:t>
            </a:r>
            <a:r>
              <a:rPr lang="en-US" sz="3600" b="1" dirty="0" smtClean="0"/>
              <a:t>flying </a:t>
            </a:r>
            <a:r>
              <a:rPr lang="en-US" sz="3600" b="1" dirty="0" smtClean="0"/>
              <a:t>speeds every </a:t>
            </a:r>
            <a:r>
              <a:rPr lang="en-US" sz="3600" b="1" dirty="0" smtClean="0"/>
              <a:t>generation on a </a:t>
            </a:r>
            <a:r>
              <a:rPr lang="en-US" sz="3600" b="1" dirty="0" smtClean="0"/>
              <a:t>sample of a few hundred flies.  These </a:t>
            </a:r>
            <a:r>
              <a:rPr lang="en-US" sz="3600" b="1" dirty="0" smtClean="0"/>
              <a:t>are </a:t>
            </a:r>
            <a:r>
              <a:rPr lang="en-US" sz="3600" b="1" dirty="0" smtClean="0"/>
              <a:t>separated into </a:t>
            </a:r>
            <a:r>
              <a:rPr lang="en-US" sz="3600" b="1" dirty="0" smtClean="0"/>
              <a:t>40 compartments according </a:t>
            </a:r>
            <a:r>
              <a:rPr lang="en-US" sz="3600" b="1" dirty="0" smtClean="0"/>
              <a:t>to their performance.  The result is a normal distribution.  </a:t>
            </a:r>
            <a:r>
              <a:rPr lang="en-US" sz="3600" b="1" dirty="0" smtClean="0"/>
              <a:t>For this experiment, we transferred </a:t>
            </a:r>
            <a:r>
              <a:rPr lang="en-US" sz="3600" b="1" dirty="0" smtClean="0"/>
              <a:t>the </a:t>
            </a:r>
            <a:r>
              <a:rPr lang="en-US" sz="3600" b="1" dirty="0" smtClean="0"/>
              <a:t>flies </a:t>
            </a:r>
            <a:r>
              <a:rPr lang="en-US" sz="3600" b="1" dirty="0" smtClean="0"/>
              <a:t>from each numbered </a:t>
            </a:r>
            <a:r>
              <a:rPr lang="en-US" sz="3600" b="1" dirty="0" smtClean="0"/>
              <a:t>compartment into </a:t>
            </a:r>
            <a:r>
              <a:rPr lang="en-US" sz="3600" b="1" dirty="0" smtClean="0"/>
              <a:t>a numbered holding vial.  </a:t>
            </a:r>
            <a:r>
              <a:rPr lang="en-US" sz="3600" b="1" dirty="0" smtClean="0"/>
              <a:t>We then separated the flies from each compartment into </a:t>
            </a:r>
            <a:r>
              <a:rPr lang="en-US" sz="3600" b="1" dirty="0" smtClean="0"/>
              <a:t>males and females under a stereomicroscope, </a:t>
            </a:r>
            <a:r>
              <a:rPr lang="en-US" sz="3600" b="1" dirty="0" smtClean="0"/>
              <a:t>recorded </a:t>
            </a:r>
            <a:r>
              <a:rPr lang="en-US" sz="3600" b="1" dirty="0" smtClean="0"/>
              <a:t>the numbers of males and females for </a:t>
            </a:r>
            <a:r>
              <a:rPr lang="en-US" sz="3600" b="1" dirty="0" smtClean="0"/>
              <a:t>each compartment, </a:t>
            </a:r>
            <a:r>
              <a:rPr lang="en-US" sz="3600" b="1" dirty="0" smtClean="0"/>
              <a:t>and </a:t>
            </a:r>
            <a:r>
              <a:rPr lang="en-US" sz="3600" b="1" dirty="0" smtClean="0"/>
              <a:t>returned </a:t>
            </a:r>
            <a:r>
              <a:rPr lang="en-US" sz="3600" b="1" dirty="0" smtClean="0"/>
              <a:t>the flies to separate numbered vials, one for each sex.  </a:t>
            </a:r>
            <a:r>
              <a:rPr lang="en-US" sz="3600" b="1" dirty="0" smtClean="0"/>
              <a:t>We then took out the fastest and slowest 20 </a:t>
            </a:r>
            <a:r>
              <a:rPr lang="en-US" sz="3600" b="1" dirty="0" smtClean="0"/>
              <a:t>individuals in each sex </a:t>
            </a:r>
            <a:r>
              <a:rPr lang="en-US" sz="3600" b="1" dirty="0" smtClean="0"/>
              <a:t>.  Each group of 20 flies was weighed by placing them in </a:t>
            </a:r>
            <a:r>
              <a:rPr lang="en-US" sz="3600" b="1" dirty="0" smtClean="0"/>
              <a:t>a previously </a:t>
            </a:r>
            <a:r>
              <a:rPr lang="en-US" sz="3600" b="1" dirty="0" err="1" smtClean="0"/>
              <a:t>tared</a:t>
            </a:r>
            <a:r>
              <a:rPr lang="en-US" sz="3600" b="1" dirty="0" smtClean="0"/>
              <a:t> cryogenic vial to prevent moisture loss. </a:t>
            </a:r>
            <a:r>
              <a:rPr lang="en-US" sz="3600" b="1" dirty="0" smtClean="0"/>
              <a:t>  The mean flying speed for each group of 20 fast or slow males or females  </a:t>
            </a:r>
            <a:endParaRPr lang="en-US" sz="36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2766000" y="8452306"/>
            <a:ext cx="10820400" cy="1006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/>
              <a:t>Conclusions:  Females are the overall “winners”  in every group of flies—i.e., they have the fastest average speed and the fastest individuals. But  males </a:t>
            </a:r>
            <a:r>
              <a:rPr lang="en-US" sz="5400" dirty="0" smtClean="0"/>
              <a:t>are actually </a:t>
            </a:r>
            <a:r>
              <a:rPr lang="en-US" sz="5400" dirty="0" smtClean="0"/>
              <a:t>very much </a:t>
            </a:r>
            <a:r>
              <a:rPr lang="en-US" sz="5400" dirty="0" smtClean="0"/>
              <a:t>faster than </a:t>
            </a:r>
            <a:r>
              <a:rPr lang="en-US" sz="5400" dirty="0" smtClean="0"/>
              <a:t>females, </a:t>
            </a:r>
            <a:r>
              <a:rPr lang="en-US" sz="5400" dirty="0" smtClean="0"/>
              <a:t>for their </a:t>
            </a:r>
            <a:r>
              <a:rPr lang="en-US" sz="5400" dirty="0" smtClean="0"/>
              <a:t>size</a:t>
            </a:r>
            <a:r>
              <a:rPr lang="en-US" sz="5400" dirty="0" smtClean="0"/>
              <a:t>. </a:t>
            </a:r>
            <a:r>
              <a:rPr lang="en-US" sz="5400" dirty="0" smtClean="0"/>
              <a:t> Females are slower for their size—probably because they carry heavy ovaries full of eggs.  This makes them less efficient .  Males have no such “excess baggage” to slow them down.   </a:t>
            </a:r>
            <a:endParaRPr lang="en-US" sz="5400" dirty="0"/>
          </a:p>
        </p:txBody>
      </p:sp>
      <p:pic>
        <p:nvPicPr>
          <p:cNvPr id="1029" name="Picture 5" descr="E:\Individual Runs Flat.tif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9392368" y="19680220"/>
            <a:ext cx="12746232" cy="12171380"/>
          </a:xfrm>
          <a:prstGeom prst="rect">
            <a:avLst/>
          </a:prstGeom>
          <a:noFill/>
        </p:spPr>
      </p:pic>
      <p:pic>
        <p:nvPicPr>
          <p:cNvPr id="1030" name="Picture 6" descr="E:\Means of Runs flat.tif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4994805" y="19964400"/>
            <a:ext cx="12437195" cy="117808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417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kenneth weber</dc:creator>
  <cp:lastModifiedBy>kenneth weber</cp:lastModifiedBy>
  <cp:revision>13</cp:revision>
  <dcterms:created xsi:type="dcterms:W3CDTF">2009-04-06T14:33:44Z</dcterms:created>
  <dcterms:modified xsi:type="dcterms:W3CDTF">2009-04-10T03:28:29Z</dcterms:modified>
</cp:coreProperties>
</file>